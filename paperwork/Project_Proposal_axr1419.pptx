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C24E8-B419-B642-9B7E-6825252AB379}" v="22" dt="2024-12-04T20:49:02.860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8" autoAdjust="0"/>
    <p:restoredTop sz="93741" autoAdjust="0"/>
  </p:normalViewPr>
  <p:slideViewPr>
    <p:cSldViewPr snapToGrid="0">
      <p:cViewPr varScale="1">
        <p:scale>
          <a:sx n="113" d="100"/>
          <a:sy n="113" d="100"/>
        </p:scale>
        <p:origin x="752" y="16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2/28/25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2/28/25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10C3-D466-1933-5A90-098B22A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3F021-6FCD-02A3-7726-97E8C07EA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CAB6-473E-D596-AD60-53D3F45BE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7793B-D2F3-3B06-243A-F07912E35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6474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8B71E-25F8-9F23-8521-690AC63D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FC49D-22C9-3831-3ACD-86E9D0F59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EC4DA-8389-2DC1-C2E7-31A184ADD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1B268-0048-8330-1F30-D22B0DA5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949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B2C6-0253-EB7F-91E7-A450122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189FE-F0EB-6A3E-FDD2-C54D56E26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DF9C8-94B6-B725-29DA-5280D6F8C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886C8-73ED-6756-67EC-C5F415128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256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C8036-7E32-3DC6-98C7-8D1F41FC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AD69D-BF3B-61EC-8223-675EB417C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F707A-93C8-A89A-6ABA-55695A42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A976B-6737-2B29-8B32-14F207CBF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294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E8D3-8DA5-3898-2F08-FE9F0EA8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445FE-D0DA-19E3-098C-6E2F98165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3FDEE-AFA3-D9BC-AABA-CF67C6FA9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FE63-AC44-60DF-99CD-4F04DBE5C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9293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111E-A4D1-300B-F0D6-7FAAD1C4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222C2-07D2-188B-7527-C0C8981E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EE94-C397-0C93-6F5B-4C85051D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089D7-6DB5-27F6-5246-BECDBCA0D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240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9A1B-6EB3-250D-6948-4511DC38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DF876-3DA1-8383-3740-ED47B4C5F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9916A-3E6B-54AF-B75B-88C0616A6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0BEDB-2890-AEAA-BAB6-A906D67A1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8655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6CD9-6118-E108-8D15-69B18B32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34F68-2B5E-8E43-71D5-8BE47F1C3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9DEAC-FC19-3461-0CDA-81E540EE5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8DD9E-C7F6-69D9-40F6-3747F5D58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126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994A3-0283-A66B-E725-15B7C1E2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D042A-AF74-9A99-E827-115489F1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AD298-ABFF-E51C-71BD-C0ED396AB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E723-DDFD-E1AC-9244-771C7E9C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607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97ED-8E04-CE4C-A8DA-785EBF9A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9285C-3D6D-0EF5-9772-4A4452C45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137E6-1538-794E-7134-84E89B2ED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 Neue" panose="02000503000000020004" pitchFamily="2" charset="0"/>
              </a:rPr>
              <a:t>Good morning, everyone. Today, I'm going to talk about scaling laws for language model performance. This presentation is based on a research paper that explores how the performance of language models changes as we increase the model size, dataset size, and the amount of compute used for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E1402-1661-9D0D-B137-2324C9142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73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914400"/>
            <a:ext cx="12177465" cy="5029200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Predictive Movement Modeling Using HMMs and DBNs</a:t>
            </a:r>
            <a:br>
              <a:rPr lang="en-US" dirty="0">
                <a:ea typeface="+mj-lt"/>
                <a:cs typeface="+mj-lt"/>
              </a:rPr>
            </a:br>
            <a:r>
              <a:rPr lang="en-US" sz="2800" dirty="0">
                <a:ea typeface="+mj-lt"/>
                <a:cs typeface="+mj-lt"/>
              </a:rPr>
              <a:t>Enhancing Automation Through Context-Aware Prediction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						                          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                                                                            </a:t>
            </a:r>
            <a:r>
              <a:rPr lang="en-US" sz="3200" dirty="0">
                <a:ea typeface="+mj-lt"/>
                <a:cs typeface="+mj-lt"/>
              </a:rPr>
              <a:t>-Akash Rana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941C-4E3D-B332-06FE-C658A6AC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7F00F4-B2F8-9886-E697-42367CCE3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Introduction &amp; Motivation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D5D29-2966-1805-7EE0-E2935CDD933A}"/>
              </a:ext>
            </a:extLst>
          </p:cNvPr>
          <p:cNvSpPr txBox="1"/>
          <p:nvPr/>
        </p:nvSpPr>
        <p:spPr>
          <a:xfrm>
            <a:off x="936977" y="1524000"/>
            <a:ext cx="1068746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Problem:</a:t>
            </a:r>
          </a:p>
          <a:p>
            <a:r>
              <a:rPr lang="en-US" sz="2400" dirty="0"/>
              <a:t>	Smart homes require proactive automation (lighting, security, energy efficiency).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Challenges: </a:t>
            </a:r>
          </a:p>
          <a:p>
            <a:r>
              <a:rPr lang="en-US" sz="2400" b="1" dirty="0"/>
              <a:t>	</a:t>
            </a:r>
            <a:r>
              <a:rPr lang="en-US" sz="2400" dirty="0"/>
              <a:t>Complex user behavior, irregular routines, and periodic patterns.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Solution:</a:t>
            </a:r>
          </a:p>
          <a:p>
            <a:r>
              <a:rPr lang="en-US" sz="2400" dirty="0"/>
              <a:t>	Predict user movements to enable context-aware automation.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Impact:</a:t>
            </a:r>
          </a:p>
          <a:p>
            <a:r>
              <a:rPr lang="en-US" sz="2400" dirty="0"/>
              <a:t>	Energy savings, enhanced security, elderly care support.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9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E746-D0B6-A8F1-5A09-F85CB50C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D88DC9-2D0D-684B-963F-70ED24AD6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Objective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DB5AE-FB19-1578-AA16-D1456D8A8C62}"/>
              </a:ext>
            </a:extLst>
          </p:cNvPr>
          <p:cNvSpPr txBox="1"/>
          <p:nvPr/>
        </p:nvSpPr>
        <p:spPr>
          <a:xfrm>
            <a:off x="936978" y="1524000"/>
            <a:ext cx="602041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Goal:</a:t>
            </a:r>
          </a:p>
          <a:p>
            <a:r>
              <a:rPr lang="en-US" sz="2400" b="1" dirty="0"/>
              <a:t>Predict a user’s next location in a smart home using historical sensor data 	and contextual features (e.g., time of day).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Key Focus:</a:t>
            </a:r>
          </a:p>
          <a:p>
            <a:r>
              <a:rPr lang="en-US" sz="2400" b="1" dirty="0"/>
              <a:t>Hybrid model combining Hidden Markov Models (temporal patterns) and Dynamic Bayesian Networks (contextual dependencies).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026" name="Picture 2" descr="Hidden Markov Model Clearly Explained! Part - 5">
            <a:extLst>
              <a:ext uri="{FF2B5EF4-FFF2-40B4-BE49-F238E27FC236}">
                <a16:creationId xmlns:a16="http://schemas.microsoft.com/office/drawing/2014/main" id="{ABB79AF3-731B-F5F9-050D-45A574FC7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40" y="2478157"/>
            <a:ext cx="4479235" cy="251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64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2076-CA9E-F89A-F3C4-AB23C7B5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CA4C4E-8E2A-4105-B6B2-D0E6E9B21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Why HMMs and DBNs?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C1809-286F-D912-A739-317DC328DE35}"/>
              </a:ext>
            </a:extLst>
          </p:cNvPr>
          <p:cNvSpPr txBox="1"/>
          <p:nvPr/>
        </p:nvSpPr>
        <p:spPr>
          <a:xfrm>
            <a:off x="936978" y="1524000"/>
            <a:ext cx="1031804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HMMs: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Ideal for temporal sequences (e.g., room transitions).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Computationally efficient, interpretable.</a:t>
            </a:r>
          </a:p>
          <a:p>
            <a:endParaRPr lang="en-US" sz="2400" b="1" dirty="0"/>
          </a:p>
          <a:p>
            <a:r>
              <a:rPr lang="en-US" sz="2400" b="1" dirty="0"/>
              <a:t>DBNs: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Extend HMMs by integrating context (time of day, habits).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Better accuracy for periodic routines.</a:t>
            </a:r>
          </a:p>
          <a:p>
            <a:endParaRPr lang="en-US" sz="2400" b="1" dirty="0"/>
          </a:p>
          <a:p>
            <a:r>
              <a:rPr lang="en-US" sz="2400" b="1" dirty="0"/>
              <a:t>Comparison with Alternatives: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LSTMs/GRUs require more data; HMMs/DBNs balance efficiency and accuracy.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8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5E5F-2C54-9B37-502D-7B1BFF7C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D51A2F-408F-0C8A-FE9F-D0574A376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Dataset &amp; Preprocessing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9C21F-7823-4D89-3A2A-5C16B269629E}"/>
              </a:ext>
            </a:extLst>
          </p:cNvPr>
          <p:cNvSpPr txBox="1"/>
          <p:nvPr/>
        </p:nvSpPr>
        <p:spPr>
          <a:xfrm>
            <a:off x="936978" y="1524000"/>
            <a:ext cx="1031804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Dataset: CASAS Aruba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Motion sensor activations (e.g., "Bedroom," "Kitchen").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Temporal sequences with ground-truth labels.</a:t>
            </a:r>
          </a:p>
          <a:p>
            <a:endParaRPr lang="en-US" sz="2400" b="1" dirty="0"/>
          </a:p>
          <a:p>
            <a:r>
              <a:rPr lang="en-US" sz="2400" b="1" dirty="0"/>
              <a:t>Preprocessing 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Split data into training (70%) and testing (30%).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Map sensor IDs to room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Add time-of-day context (morning/afternoon/night).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28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ABBB-5DB8-981E-EF7C-36820D26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5EA38-458B-1BD8-CE43-AE6881E1F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 Model Design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77A1E-4CB8-A212-0869-B9D64545F622}"/>
              </a:ext>
            </a:extLst>
          </p:cNvPr>
          <p:cNvSpPr txBox="1"/>
          <p:nvPr/>
        </p:nvSpPr>
        <p:spPr>
          <a:xfrm>
            <a:off x="936978" y="1524000"/>
            <a:ext cx="51590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Hybrid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HMM Layer: Predicts room transitions using Viterbi algorithm.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DBN Layer: Refines predictions with time-of-day context via particle filtering.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r>
              <a:rPr lang="en-US" sz="2400" b="1" dirty="0"/>
              <a:t>Integration: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HMM output feeds into DBN as contextual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Visual: Flowchart showing HMM → DBN interaction.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4775650B-DF0C-16E8-EAFF-474B42F4B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578" y="2212083"/>
            <a:ext cx="7772400" cy="376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6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500E-E732-48E0-526B-400D5A6C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4A710A-3404-6FCD-5020-180208FCA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Workflow Overview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62A3A-1DF3-CFFA-55D0-D56046546FE5}"/>
              </a:ext>
            </a:extLst>
          </p:cNvPr>
          <p:cNvSpPr txBox="1"/>
          <p:nvPr/>
        </p:nvSpPr>
        <p:spPr>
          <a:xfrm>
            <a:off x="936978" y="1524000"/>
            <a:ext cx="1031804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Data Collection: CASAS Aruba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Feature Engineering: Room labels + time bins.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Model Training:</a:t>
            </a:r>
          </a:p>
          <a:p>
            <a:r>
              <a:rPr lang="en-US" sz="2400" b="1" dirty="0"/>
              <a:t>	HMM: Baum-Welch algorithm.</a:t>
            </a:r>
          </a:p>
          <a:p>
            <a:r>
              <a:rPr lang="en-US" sz="2400" b="1" dirty="0"/>
              <a:t>	DBN: Particle filtering with HMM context.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Evaluation: Accuracy, F1-score, confusion matrices.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Deployment: Real-time integration with smart home systems.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2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A37B-73DA-2E33-F89E-BB6FC793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82F7BA-6FA8-810B-876C-10CF72B41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Evaluation Metrics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54323-DFCB-3BE2-4039-3F00DC172D74}"/>
              </a:ext>
            </a:extLst>
          </p:cNvPr>
          <p:cNvSpPr txBox="1"/>
          <p:nvPr/>
        </p:nvSpPr>
        <p:spPr>
          <a:xfrm>
            <a:off x="1294330" y="1692166"/>
            <a:ext cx="103180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Accuracy: % of correct room predictions.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Precision/Recall: Per-room performance.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Transition Confusion Matrix: Common errors (e.g., Living Room vs. Dining Room).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Prediction Lead Time: Steps ahead forecasted accurately.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Visual: Comparison table (HMM vs. DBN expected accuracy).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68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BAB0-546B-B4AF-AE44-22FEC8A0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D03D0E-1C3E-41C2-29E9-6C6BAC796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Expected Results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93261-F0DC-143E-D459-2DED36D912C7}"/>
              </a:ext>
            </a:extLst>
          </p:cNvPr>
          <p:cNvSpPr txBox="1"/>
          <p:nvPr/>
        </p:nvSpPr>
        <p:spPr>
          <a:xfrm>
            <a:off x="1294330" y="1692166"/>
            <a:ext cx="10295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HMM Baseline: ~80–85% accuracy.</a:t>
            </a:r>
          </a:p>
          <a:p>
            <a:r>
              <a:rPr lang="en-US" sz="2400" b="1" dirty="0"/>
              <a:t>DBN Improvement: ~85–90% accuracy (better time-context handling).</a:t>
            </a:r>
          </a:p>
          <a:p>
            <a:r>
              <a:rPr lang="en-US" sz="2400" b="1" dirty="0"/>
              <a:t>Visual: Bar chart showing accuracy gains.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16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316D-41C2-B86A-42D4-1BCD888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6C1B0-E935-E229-BB10-EDD33BEB1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Challenges &amp; Solutions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A6D26-5E89-747A-6164-CC47BA45FE78}"/>
              </a:ext>
            </a:extLst>
          </p:cNvPr>
          <p:cNvSpPr txBox="1"/>
          <p:nvPr/>
        </p:nvSpPr>
        <p:spPr>
          <a:xfrm>
            <a:off x="1294330" y="1692166"/>
            <a:ext cx="102954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Sparsity:</a:t>
            </a:r>
          </a:p>
          <a:p>
            <a:r>
              <a:rPr lang="en-US" sz="2400" b="1" dirty="0"/>
              <a:t>	Solution: Laplace smoothing, synthetic sequences.</a:t>
            </a:r>
          </a:p>
          <a:p>
            <a:endParaRPr lang="en-US" sz="2400" b="1" dirty="0"/>
          </a:p>
          <a:p>
            <a:r>
              <a:rPr lang="en-US" sz="2400" b="1" dirty="0"/>
              <a:t>Overfitting in HMMs:</a:t>
            </a:r>
          </a:p>
          <a:p>
            <a:r>
              <a:rPr lang="en-US" sz="2400" b="1" dirty="0"/>
              <a:t>	Solution: Regularization (AIC/BIC).</a:t>
            </a:r>
          </a:p>
          <a:p>
            <a:endParaRPr lang="en-US" sz="2400" b="1" dirty="0"/>
          </a:p>
          <a:p>
            <a:r>
              <a:rPr lang="en-US" sz="2400" b="1" dirty="0"/>
              <a:t>Temporal Alignment:</a:t>
            </a:r>
          </a:p>
          <a:p>
            <a:r>
              <a:rPr lang="en-US" sz="2400" b="1" dirty="0"/>
              <a:t>	Solution: Time discretization (e.g., 6 AM–9 AM = "morning").</a:t>
            </a:r>
          </a:p>
          <a:p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81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0721-5435-5955-AF74-2D0F0F6F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DB5F48-91C8-C9F3-2F92-7CAA1CE50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978" y="395111"/>
            <a:ext cx="10295466" cy="1128889"/>
          </a:xfrm>
        </p:spPr>
        <p:txBody>
          <a:bodyPr anchor="ctr"/>
          <a:lstStyle/>
          <a:p>
            <a:r>
              <a:rPr lang="en-US" sz="3600" dirty="0">
                <a:ea typeface="+mj-lt"/>
                <a:cs typeface="+mj-lt"/>
              </a:rPr>
              <a:t>Conclusion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4EC2D-A6A0-9B63-C403-E2BFDA9364CC}"/>
              </a:ext>
            </a:extLst>
          </p:cNvPr>
          <p:cNvSpPr txBox="1"/>
          <p:nvPr/>
        </p:nvSpPr>
        <p:spPr>
          <a:xfrm>
            <a:off x="1294330" y="1692166"/>
            <a:ext cx="1029546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Outcome: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Robust model for room transition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Foundation for real-time smart home automation.</a:t>
            </a:r>
          </a:p>
          <a:p>
            <a:endParaRPr lang="en-US" sz="2400" b="1" dirty="0"/>
          </a:p>
          <a:p>
            <a:r>
              <a:rPr lang="en-US" sz="2400" b="1" dirty="0"/>
              <a:t>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Actuator integration (lights, HVAC).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Expand to multi-user environments.</a:t>
            </a:r>
          </a:p>
          <a:p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8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2F8F-3924-EEB9-61AA-CABFC304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210" y="914400"/>
            <a:ext cx="5641848" cy="50292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52080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purl.org/dc/terms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sharepoint/v3"/>
    <ds:schemaRef ds:uri="16c05727-aa75-4e4a-9b5f-8a80a1165891"/>
    <ds:schemaRef ds:uri="http://schemas.openxmlformats.org/package/2006/metadata/core-propertie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1157</Words>
  <Application>Microsoft Macintosh PowerPoint</Application>
  <PresentationFormat>Widescreen</PresentationFormat>
  <Paragraphs>112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Helvetica Neue</vt:lpstr>
      <vt:lpstr>Sagona Book</vt:lpstr>
      <vt:lpstr>Custom</vt:lpstr>
      <vt:lpstr>Predictive Movement Modeling Using HMMs and DBNs Enhancing Automation Through Context-Aware Prediction                                                                                                              -Akash Rana </vt:lpstr>
      <vt:lpstr>Introduction &amp; Motivation </vt:lpstr>
      <vt:lpstr>Objective </vt:lpstr>
      <vt:lpstr>Why HMMs and DBNs?  </vt:lpstr>
      <vt:lpstr>Dataset &amp; Preprocessing</vt:lpstr>
      <vt:lpstr> Model Design</vt:lpstr>
      <vt:lpstr>Workflow Overview</vt:lpstr>
      <vt:lpstr>Evaluation Metrics</vt:lpstr>
      <vt:lpstr>Expected Results</vt:lpstr>
      <vt:lpstr>Challenges &amp; Solutions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Akash Rana</cp:lastModifiedBy>
  <cp:revision>344</cp:revision>
  <dcterms:created xsi:type="dcterms:W3CDTF">2024-11-29T09:08:44Z</dcterms:created>
  <dcterms:modified xsi:type="dcterms:W3CDTF">2025-02-28T06:52:59Z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